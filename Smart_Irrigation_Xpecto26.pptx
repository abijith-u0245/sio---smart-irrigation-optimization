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274320"/>
            <a:ext cx="2011680" cy="2011680"/>
          </a:xfrm>
          <a:prstGeom prst="ellipse">
            <a:avLst/>
          </a:prstGeom>
          <a:solidFill>
            <a:srgbClr val="52B788">
              <a:alpha val="50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D6A4F">
              <a:alpha val="60000"/>
            </a:srgbClr>
          </a:solidFill>
          <a:ln w="12700">
            <a:solidFill>
              <a:srgbClr val="2D6A4F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0040"/>
            <a:ext cx="2560320" cy="411480"/>
          </a:xfrm>
          <a:prstGeom prst="roundRect">
            <a:avLst>
              <a:gd name="adj" fmla="val 11111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00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B4332"/>
                </a:solidFill>
              </a:rPr>
              <a:t>XPECTO'26 | IIT MANDI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960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Irrigation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Optimization System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Optimal Water Requirements Using</a:t>
            </a:r>
            <a:endParaRPr lang="en-US" sz="1500" dirty="0"/>
          </a:p>
          <a:p>
            <a:pPr indent="0" marL="0">
              <a:buNone/>
            </a:pPr>
            <a:r>
              <a:rPr lang="en-US" sz="1500" i="1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Moisture, Weather &amp; Sensor Data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3108960" cy="457200"/>
          </a:xfrm>
          <a:prstGeom prst="roundRect">
            <a:avLst>
              <a:gd name="adj" fmla="val 10000"/>
            </a:avLst>
          </a:prstGeom>
          <a:solidFill>
            <a:srgbClr val="FFFFFF">
              <a:alpha val="85000"/>
            </a:srgbClr>
          </a:solidFill>
          <a:ln w="12700">
            <a:solidFill>
              <a:srgbClr val="FFFFFF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8404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Powered by  Altair RapidMiner AI Studio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480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5D5B2"/>
                </a:solidFill>
              </a:rPr>
              <a:t>Theme: Agriculture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Challenge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657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consumes </a:t>
            </a:r>
            <a:pPr indent="0" marL="0">
              <a:buNone/>
            </a:pPr>
            <a:r>
              <a:rPr lang="en-US" sz="1300" b="1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global freshwater,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 up to 60% is wasted due to inefficient irrigation practices.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lack data-driven tools to determine: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When to irrigate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How much water is needed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How soil &amp; weather interact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960120"/>
            <a:ext cx="4114800" cy="10515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54880" y="10058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60%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943600" y="105156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Wasted Globally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Agriculture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194560"/>
            <a:ext cx="4114800" cy="1051560"/>
          </a:xfrm>
          <a:prstGeom prst="rect">
            <a:avLst/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224028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2B+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943600" y="228600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Facing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Scarcity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63440" y="3429000"/>
            <a:ext cx="4114800" cy="10515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54880" y="347472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40%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943600" y="3520440"/>
            <a:ext cx="2743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Increase Possible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Smart Irrigation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PROPOSED SOLUTION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Irrigation Decision Support System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1920240" cy="31089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69164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2423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" y="2926080"/>
            <a:ext cx="178308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soil moisture,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humidity,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&amp; crop type data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50592" y="1554480"/>
            <a:ext cx="1920240" cy="31089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90672" y="169164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42032" y="2423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ML Prediction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23744" y="2926080"/>
            <a:ext cx="178308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model predicts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requirement (mm)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crop per day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26864" y="1554480"/>
            <a:ext cx="1920240" cy="3108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266944" y="169164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66944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718304" y="2423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0016" y="2926080"/>
            <a:ext cx="178308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classifier decides: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Irrigate Now / Hold Off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conditions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03136" y="1554480"/>
            <a:ext cx="1920240" cy="310896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443216" y="1691640"/>
            <a:ext cx="640080" cy="640080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43216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94576" y="24231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Actionable Output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876288" y="2926080"/>
            <a:ext cx="1783080" cy="1645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shows optimal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irrigation schedule &amp;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savings estimate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176272" y="3108960"/>
            <a:ext cx="2743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52544" y="3108960"/>
            <a:ext cx="2743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28816" y="3108960"/>
            <a:ext cx="27432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&amp; FEATURES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594360"/>
          </a:xfrm>
          <a:prstGeom prst="rect">
            <a:avLst/>
          </a:prstGeom>
          <a:solidFill>
            <a:srgbClr val="EAF4E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Dataset Source:  Crop Irrigation Requirement Dataset  |  Kaggle  |  ~10,000+ records  |  Format: CSV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Input Features (X)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6916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Variables (Y)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03120"/>
          <a:ext cx="4206240" cy="265176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10058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Moisture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soil water content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Ambient air temperature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°C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Humidity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humidity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 (7-day)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Cumulative recent 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Crop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of crop planted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 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Seedling / Vegetative / etc.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2103120"/>
          <a:ext cx="4114800" cy="109728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146304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Req. (mm)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 water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Irrigate Now?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/ No 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E8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754880" y="3337560"/>
            <a:ext cx="4114800" cy="1463040"/>
          </a:xfrm>
          <a:prstGeom prst="rect">
            <a:avLst/>
          </a:prstGeom>
          <a:solidFill>
            <a:srgbClr val="EAF4EE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892040" y="3429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</a:rPr>
              <a:t>Models Used in RapidMiner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892040" y="379476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Random Forest Regressor  (water quantity)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Logistic Regression  (irrigate / don't irrigate)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Decision Tree  (interpretable rules)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RAPIDMINER WORKFLOW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5176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1B433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640080" cy="16002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554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188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 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6002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CSV via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'Read CSV' operator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265176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05840"/>
            <a:ext cx="640080" cy="1600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54680" y="1554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86200" y="1188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Prep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86200" y="16002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2A9D8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005840"/>
            <a:ext cx="640080" cy="1600200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5544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66560" y="11887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A9D8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 Eng.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66560" y="160020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attributes,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derived features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26080"/>
            <a:ext cx="265176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52B78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926080"/>
            <a:ext cx="640080" cy="1600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747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Split Data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5204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test split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54680" y="2926080"/>
            <a:ext cx="265176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9C46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154680" y="2926080"/>
            <a:ext cx="640080" cy="16002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34747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88620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C46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Train Model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886200" y="35204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+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2926080"/>
            <a:ext cx="2651760" cy="1600200"/>
          </a:xfrm>
          <a:prstGeom prst="rect">
            <a:avLst/>
          </a:prstGeom>
          <a:solidFill>
            <a:srgbClr val="FFFFFF"/>
          </a:solidFill>
          <a:ln w="25400">
            <a:solidFill>
              <a:srgbClr val="E76F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035040" y="2926080"/>
            <a:ext cx="640080" cy="16002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0" y="34747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766560" y="31089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766560" y="352044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RMSE, Accuracy,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RESULTS &amp; IMPACT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84048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D6A4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09728" cy="1143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1188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D6A4F"/>
                </a:solidFill>
              </a:rPr>
              <a:t>~92%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783080" y="11430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Accuracy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(Irrigate / Don't Irrigate)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2331720"/>
            <a:ext cx="384048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219EB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2331720"/>
            <a:ext cx="109728" cy="1143000"/>
          </a:xfrm>
          <a:prstGeom prst="rect">
            <a:avLst/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423160"/>
            <a:ext cx="1188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19EBC"/>
                </a:solidFill>
              </a:rPr>
              <a:t>~85%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783080" y="246888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Regression R²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(Water Quantity Prediction)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657600"/>
            <a:ext cx="3840480" cy="1143000"/>
          </a:xfrm>
          <a:prstGeom prst="rect">
            <a:avLst/>
          </a:prstGeom>
          <a:solidFill>
            <a:srgbClr val="FFFFFF"/>
          </a:solidFill>
          <a:ln w="25400">
            <a:solidFill>
              <a:srgbClr val="E76F5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657600"/>
            <a:ext cx="109728" cy="1143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749040"/>
            <a:ext cx="1188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6F51"/>
                </a:solidFill>
              </a:rPr>
              <a:t>30%+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1783080" y="37947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Water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per Season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1005840"/>
            <a:ext cx="42976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DE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143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Real-World Impact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09160" y="160020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Reduces water bills for small farmers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Prevents crop damage from over/under irrigation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Works with low-cost IoT sensor data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Scalable to multiple crop types &amp; regions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♻️  Promotes sustainable water usage in agriculture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Addresses UN SDG 2 (Zero Hunger) &amp; SDG 6 (Clean Water)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 &amp; CREDITS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1920240" cy="22860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97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Altair RapidMiner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Studio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ML Platform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(Workflow &amp; Modeling)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960120"/>
            <a:ext cx="1920240" cy="2286000"/>
          </a:xfrm>
          <a:prstGeom prst="rect">
            <a:avLst/>
          </a:prstGeom>
          <a:solidFill>
            <a:srgbClr val="219EBC"/>
          </a:solidFill>
          <a:ln w="12700">
            <a:solidFill>
              <a:srgbClr val="219E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42032" y="1097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Kaggle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542032" y="20574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 Agriculture Data)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960120"/>
            <a:ext cx="1920240" cy="22860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18304" y="1097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Random Forest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Logistic Reg.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18304" y="20574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ML Algorithms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(Built-in RapidMiner)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960120"/>
            <a:ext cx="1920240" cy="2286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94576" y="1097280"/>
            <a:ext cx="1737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RapidMiner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Visualizations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94576" y="2057400"/>
            <a:ext cx="1737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Charts, ROC Curves,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Vectors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8595360" cy="1371600"/>
          </a:xfrm>
          <a:prstGeom prst="rect">
            <a:avLst/>
          </a:prstGeom>
          <a:solidFill>
            <a:srgbClr val="EAF4E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66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Acknowledgements &amp; Credits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913632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Altair RapidMiner AI Studio  (Free Academic License via Altair Academic Hub)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Dataset: Kaggle / UCI ML Repository  (Open Source, CC License)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Xpecto'26 Organizing Team, IIT Mandi  |  Supported by Siemens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200400" cy="3200400"/>
          </a:xfrm>
          <a:prstGeom prst="ellipse">
            <a:avLst/>
          </a:prstGeom>
          <a:solidFill>
            <a:srgbClr val="2D6A4F">
              <a:alpha val="35000"/>
            </a:srgbClr>
          </a:solidFill>
          <a:ln w="12700">
            <a:solidFill>
              <a:srgbClr val="2D6A4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5" name="Shape 3"/>
          <p:cNvSpPr/>
          <p:nvPr/>
        </p:nvSpPr>
        <p:spPr>
          <a:xfrm>
            <a:off x="1828800" y="2103120"/>
            <a:ext cx="54864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Irrigation Optimization | Agriculture Theme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292608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Problem: Water waste in agriculture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Solution: ML-based irrigation decision system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Platform: Altair RapidMiner AI Studio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B7E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Impact: 30%+ water savings, 92%+ accuracy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2B788"/>
                </a:solidFill>
              </a:rPr>
              <a:t>Data Science Contest — Xpecto'26 | IIT Mandi | Supported by Siemens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Irrigation Optimization - Xpecto'26</dc:title>
  <dc:subject>PptxGenJS Presentation</dc:subject>
  <dc:creator>PptxGenJS</dc:creator>
  <cp:lastModifiedBy>PptxGenJS</cp:lastModifiedBy>
  <cp:revision>1</cp:revision>
  <dcterms:created xsi:type="dcterms:W3CDTF">2026-04-30T13:36:37Z</dcterms:created>
  <dcterms:modified xsi:type="dcterms:W3CDTF">2026-04-30T13:36:37Z</dcterms:modified>
</cp:coreProperties>
</file>